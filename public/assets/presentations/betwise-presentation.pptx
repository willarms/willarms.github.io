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h/2leXl7F0m2mdqrIk1NcdOSB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://drive.google.com/file/d/1q_KBZ4SQH5YWTcwT_iaATHNk2kUgSLbT/view" TargetMode="External"/><Relationship Id="rId5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1"/>
          <p:cNvCxnSpPr/>
          <p:nvPr/>
        </p:nvCxnSpPr>
        <p:spPr>
          <a:xfrm>
            <a:off x="457200" y="502920"/>
            <a:ext cx="11277295" cy="0"/>
          </a:xfrm>
          <a:prstGeom prst="straightConnector1">
            <a:avLst/>
          </a:prstGeom>
          <a:noFill/>
          <a:ln cap="flat" cmpd="sng" w="1905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betwise_logo.png" id="13" name="Google Shape;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691640"/>
            <a:ext cx="4206240" cy="213055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502920" y="38862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April 30,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02920" y="4434840"/>
            <a:ext cx="6858000" cy="50292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40080" y="443484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Cate Anderson  |  William Armsworthy  |  Ryan Putka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858000" y="23317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200"/>
              <a:buFont typeface="Cambria"/>
              <a:buNone/>
            </a:pPr>
            <a:r>
              <a:rPr i="1" lang="en-US" sz="22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A sports betting strategy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858000" y="27889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200"/>
              <a:buFont typeface="Cambria"/>
              <a:buNone/>
            </a:pPr>
            <a:r>
              <a:rPr i="1" lang="en-US" sz="22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backtesting platform.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6858000" y="3383280"/>
            <a:ext cx="1645920" cy="0"/>
          </a:xfrm>
          <a:prstGeom prst="straightConnector1">
            <a:avLst/>
          </a:prstGeom>
          <a:noFill/>
          <a:ln cap="flat" cmpd="sng" w="3175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6858000" y="35204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Replacing guesswork with evidence.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etwise_icon.png" id="26" name="Google Shape;2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1"/>
            <a:ext cx="868680" cy="310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2"/>
          <p:cNvCxnSpPr/>
          <p:nvPr/>
        </p:nvCxnSpPr>
        <p:spPr>
          <a:xfrm>
            <a:off x="457200" y="669689"/>
            <a:ext cx="11277295" cy="0"/>
          </a:xfrm>
          <a:prstGeom prst="straightConnector1">
            <a:avLst/>
          </a:prstGeom>
          <a:noFill/>
          <a:ln cap="flat" cmpd="sng" w="1587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"/>
          <p:cNvSpPr/>
          <p:nvPr/>
        </p:nvSpPr>
        <p:spPr>
          <a:xfrm>
            <a:off x="1371600" y="164592"/>
            <a:ext cx="94484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mbria"/>
              <a:buNone/>
            </a:pPr>
            <a:r>
              <a:rPr lang="en-US" sz="32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The Sports Betting Market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914400" y="713232"/>
            <a:ext cx="103628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rPr>
              <a:t>The U.S. legal sports betting industry is at a record high — and it has never been more profitable for the house.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040380" y="1069847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Cambria"/>
              <a:buNone/>
            </a:pPr>
            <a:r>
              <a:rPr lang="en-US" sz="20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Market Overview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94359" y="1627632"/>
            <a:ext cx="1114013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Sports betting market size </a:t>
            </a:r>
            <a:r>
              <a:rPr b="1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is at a record high</a:t>
            </a:r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driven by strong growth in iGaming and mobile betting.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94360" y="2176272"/>
            <a:ext cx="1114013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 the AGA (Feb 2026), Americans legally bet </a:t>
            </a:r>
            <a:r>
              <a:rPr b="1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$166.94 billion</a:t>
            </a:r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on sports in 2025 — an </a:t>
            </a:r>
            <a:r>
              <a:rPr b="1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11% increase</a:t>
            </a:r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from 2024.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94359" y="2724912"/>
            <a:ext cx="1114013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U.S. commercial gaming industry generated </a:t>
            </a:r>
            <a:r>
              <a:rPr b="1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record-breaking revenue</a:t>
            </a:r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for a fourth consecutive year in 2024.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94360" y="3273552"/>
            <a:ext cx="111401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Mobile and iGaming have </a:t>
            </a:r>
            <a:r>
              <a:rPr b="1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permanently re-shaped the industry</a:t>
            </a:r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expanding the bettor pool and entrenching the operators.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3913632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By the Numbers — 2025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502920" y="4325112"/>
            <a:ext cx="5349240" cy="0"/>
          </a:xfrm>
          <a:prstGeom prst="straightConnector1">
            <a:avLst/>
          </a:prstGeom>
          <a:noFill/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"/>
          <p:cNvSpPr/>
          <p:nvPr/>
        </p:nvSpPr>
        <p:spPr>
          <a:xfrm>
            <a:off x="548640" y="4462272"/>
            <a:ext cx="26289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E87722"/>
                </a:solidFill>
                <a:latin typeface="Cambria"/>
                <a:ea typeface="Cambria"/>
                <a:cs typeface="Cambria"/>
                <a:sym typeface="Cambria"/>
              </a:rPr>
              <a:t>$166.9B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4965192"/>
            <a:ext cx="26289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Total handle wagered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177540" y="4462272"/>
            <a:ext cx="26289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E87722"/>
                </a:solidFill>
                <a:latin typeface="Cambria"/>
                <a:ea typeface="Cambria"/>
                <a:cs typeface="Cambria"/>
                <a:sym typeface="Cambria"/>
              </a:rPr>
              <a:t>+11%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177540" y="4965192"/>
            <a:ext cx="26289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YoY handle growth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5422392"/>
            <a:ext cx="26289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E87722"/>
                </a:solidFill>
                <a:latin typeface="Cambria"/>
                <a:ea typeface="Cambria"/>
                <a:cs typeface="Cambria"/>
                <a:sym typeface="Cambria"/>
              </a:rPr>
              <a:t>$16.96B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5925312"/>
            <a:ext cx="26289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2025 betting revenue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177540" y="5422392"/>
            <a:ext cx="26289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E87722"/>
                </a:solidFill>
                <a:latin typeface="Cambria"/>
                <a:ea typeface="Cambria"/>
                <a:cs typeface="Cambria"/>
                <a:sym typeface="Cambria"/>
              </a:rPr>
              <a:t>38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177540" y="5925312"/>
            <a:ext cx="26289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States w/ legal betting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63640" y="3913632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Sector Trends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6309360" y="4325112"/>
            <a:ext cx="5349240" cy="0"/>
          </a:xfrm>
          <a:prstGeom prst="straightConnector1">
            <a:avLst/>
          </a:prstGeom>
          <a:noFill/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2"/>
          <p:cNvSpPr/>
          <p:nvPr/>
        </p:nvSpPr>
        <p:spPr>
          <a:xfrm>
            <a:off x="6400800" y="4462272"/>
            <a:ext cx="411480" cy="411480"/>
          </a:xfrm>
          <a:prstGeom prst="ellipse">
            <a:avLst/>
          </a:prstGeom>
          <a:solidFill>
            <a:srgbClr val="DEEBF7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400800" y="446227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$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949440" y="441655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Mobile sportsbooks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now account for the majority of all U.S. handle, with FanDuel and DraftKings dominating market share.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400800" y="5193792"/>
            <a:ext cx="411480" cy="411480"/>
          </a:xfrm>
          <a:prstGeom prst="ellipse">
            <a:avLst/>
          </a:prstGeom>
          <a:solidFill>
            <a:srgbClr val="DEEBF7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400800" y="51937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949440" y="514807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Player props and parlays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have surged in popularity — and they carry the highest vig of any market type.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400800" y="5925312"/>
            <a:ext cx="411480" cy="411480"/>
          </a:xfrm>
          <a:prstGeom prst="ellipse">
            <a:avLst/>
          </a:prstGeom>
          <a:solidFill>
            <a:srgbClr val="DEEBF7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400800" y="592531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949440" y="587959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Bettor losses are climbing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in lockstep with the boom — debt and problem gambling are both at record levels.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2"/>
          <p:cNvCxnSpPr/>
          <p:nvPr/>
        </p:nvCxnSpPr>
        <p:spPr>
          <a:xfrm>
            <a:off x="457200" y="1431689"/>
            <a:ext cx="11277295" cy="0"/>
          </a:xfrm>
          <a:prstGeom prst="straightConnector1">
            <a:avLst/>
          </a:prstGeom>
          <a:noFill/>
          <a:ln cap="flat" cmpd="sng" w="1587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etwise_icon.png"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6032"/>
            <a:ext cx="868680" cy="310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3"/>
          <p:cNvCxnSpPr/>
          <p:nvPr/>
        </p:nvCxnSpPr>
        <p:spPr>
          <a:xfrm>
            <a:off x="457200" y="667512"/>
            <a:ext cx="11277295" cy="0"/>
          </a:xfrm>
          <a:prstGeom prst="straightConnector1">
            <a:avLst/>
          </a:prstGeom>
          <a:noFill/>
          <a:ln cap="flat" cmpd="sng" w="1587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3"/>
          <p:cNvSpPr/>
          <p:nvPr/>
        </p:nvSpPr>
        <p:spPr>
          <a:xfrm>
            <a:off x="1371600" y="164592"/>
            <a:ext cx="94484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mbria"/>
              <a:buNone/>
            </a:pPr>
            <a:r>
              <a:rPr lang="en-US" sz="32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The House Always Wins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914400" y="713232"/>
            <a:ext cx="103628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mbria"/>
              <a:buNone/>
            </a:pPr>
            <a:r>
              <a:rPr i="1" lang="en-US" sz="14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rPr>
              <a:t>The math is rigged before tip-off — and only 4% of bettors ever beat it long-term.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20040" y="1675800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How the Edge Works</a:t>
            </a:r>
            <a:endParaRPr/>
          </a:p>
        </p:txBody>
      </p:sp>
      <p:cxnSp>
        <p:nvCxnSpPr>
          <p:cNvPr id="67" name="Google Shape;67;p3"/>
          <p:cNvCxnSpPr/>
          <p:nvPr/>
        </p:nvCxnSpPr>
        <p:spPr>
          <a:xfrm>
            <a:off x="365760" y="2087280"/>
            <a:ext cx="5349240" cy="0"/>
          </a:xfrm>
          <a:prstGeom prst="straightConnector1">
            <a:avLst/>
          </a:prstGeom>
          <a:noFill/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3"/>
          <p:cNvSpPr/>
          <p:nvPr/>
        </p:nvSpPr>
        <p:spPr>
          <a:xfrm>
            <a:off x="457200" y="2178720"/>
            <a:ext cx="5166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Every line carries a </a:t>
            </a: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vig (vigorish)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— the book’s built-in commission baked into every price you see.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57200" y="2788920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At standard </a:t>
            </a: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-110 odds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the book locks in a </a:t>
            </a: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~4.54% margin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regardless of outcome. You must win </a:t>
            </a: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52.38%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of bets just to break even.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57200" y="3497936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Without backtesting, bettors have </a:t>
            </a: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feedback loop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— they can’t separate skill from variance or test ideas before risking real money.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57200" y="4197936"/>
            <a:ext cx="5166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Sportsbooks bring </a:t>
            </a: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historical data, quant models, and risk teams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Bettors bring opinions.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126480" y="1675800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The Toll on Bettors</a:t>
            </a:r>
            <a:endParaRPr/>
          </a:p>
        </p:txBody>
      </p:sp>
      <p:cxnSp>
        <p:nvCxnSpPr>
          <p:cNvPr id="73" name="Google Shape;73;p3"/>
          <p:cNvCxnSpPr/>
          <p:nvPr/>
        </p:nvCxnSpPr>
        <p:spPr>
          <a:xfrm>
            <a:off x="6172200" y="2087280"/>
            <a:ext cx="5349240" cy="0"/>
          </a:xfrm>
          <a:prstGeom prst="straightConnector1">
            <a:avLst/>
          </a:prstGeom>
          <a:noFill/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3"/>
          <p:cNvSpPr/>
          <p:nvPr/>
        </p:nvSpPr>
        <p:spPr>
          <a:xfrm>
            <a:off x="6217920" y="2178720"/>
            <a:ext cx="240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4800"/>
              <a:buFont typeface="Cambria"/>
              <a:buNone/>
            </a:pPr>
            <a:r>
              <a:rPr b="1" lang="en-US" sz="4800">
                <a:solidFill>
                  <a:srgbClr val="E87722"/>
                </a:solidFill>
                <a:latin typeface="Cambria"/>
                <a:ea typeface="Cambria"/>
                <a:cs typeface="Cambria"/>
                <a:sym typeface="Cambria"/>
              </a:rPr>
              <a:t>4%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217920" y="2858800"/>
            <a:ext cx="24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of 700,000 bettors turned long-term profit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8762840" y="2178720"/>
            <a:ext cx="270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4800"/>
              <a:buFont typeface="Cambria"/>
              <a:buNone/>
            </a:pPr>
            <a:r>
              <a:rPr b="1" lang="en-US" sz="4800">
                <a:solidFill>
                  <a:srgbClr val="E87722"/>
                </a:solidFill>
                <a:latin typeface="Cambria"/>
                <a:ea typeface="Cambria"/>
                <a:cs typeface="Cambria"/>
                <a:sym typeface="Cambria"/>
              </a:rPr>
              <a:t>30%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762840" y="2858800"/>
            <a:ext cx="27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carry debt attributed to gambling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217920" y="3477936"/>
            <a:ext cx="240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4800"/>
              <a:buFont typeface="Cambria"/>
              <a:buNone/>
            </a:pPr>
            <a:r>
              <a:rPr b="1" lang="en-US" sz="4800">
                <a:solidFill>
                  <a:srgbClr val="E87722"/>
                </a:solidFill>
                <a:latin typeface="Cambria"/>
                <a:ea typeface="Cambria"/>
                <a:cs typeface="Cambria"/>
                <a:sym typeface="Cambria"/>
              </a:rPr>
              <a:t>52%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217920" y="4158016"/>
            <a:ext cx="24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carry a credit card balance month-to-month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8762840" y="3477936"/>
            <a:ext cx="270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4800"/>
              <a:buFont typeface="Cambria"/>
              <a:buNone/>
            </a:pPr>
            <a:r>
              <a:rPr b="1" lang="en-US" sz="4800">
                <a:solidFill>
                  <a:srgbClr val="E87722"/>
                </a:solidFill>
                <a:latin typeface="Cambria"/>
                <a:ea typeface="Cambria"/>
                <a:cs typeface="Cambria"/>
                <a:sym typeface="Cambria"/>
              </a:rPr>
              <a:t>25%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8762840" y="4158016"/>
            <a:ext cx="27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have missed a bill due to wagers</a:t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20040" y="4997936"/>
            <a:ext cx="11277295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i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Bettors are bringing opinions to a fight where the house brings models. It is not a fair game.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etwise_icon.png" id="88" name="Google Shape;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794" y="260604"/>
            <a:ext cx="868680" cy="310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4"/>
          <p:cNvCxnSpPr/>
          <p:nvPr/>
        </p:nvCxnSpPr>
        <p:spPr>
          <a:xfrm>
            <a:off x="502920" y="667512"/>
            <a:ext cx="11277295" cy="0"/>
          </a:xfrm>
          <a:prstGeom prst="straightConnector1">
            <a:avLst/>
          </a:prstGeom>
          <a:noFill/>
          <a:ln cap="flat" cmpd="sng" w="1587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4"/>
          <p:cNvSpPr/>
          <p:nvPr/>
        </p:nvSpPr>
        <p:spPr>
          <a:xfrm>
            <a:off x="1417319" y="169164"/>
            <a:ext cx="94484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mbria"/>
              <a:buNone/>
            </a:pPr>
            <a:r>
              <a:rPr lang="en-US" sz="32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Enter BetWise — Giving Bettors Their Edge Back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914400" y="713232"/>
            <a:ext cx="103628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mbria"/>
              <a:buNone/>
            </a:pPr>
            <a:r>
              <a:rPr i="1" lang="en-US" sz="14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rPr>
              <a:t>A platform to test betting strategies against years of real historical data — before risking a dollar.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76794" y="1124712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What BetWise Does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522514" y="1645919"/>
            <a:ext cx="5349240" cy="0"/>
          </a:xfrm>
          <a:prstGeom prst="straightConnector1">
            <a:avLst/>
          </a:prstGeom>
          <a:noFill/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4"/>
          <p:cNvSpPr/>
          <p:nvPr/>
        </p:nvSpPr>
        <p:spPr>
          <a:xfrm>
            <a:off x="613954" y="1737359"/>
            <a:ext cx="5166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Simulates user-defined betting strategies across </a:t>
            </a: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past games, seasons, and conditions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13954" y="2285999"/>
            <a:ext cx="5166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Surfaces </a:t>
            </a: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performance, ROI, and consistency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metrics for every backtest run.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13954" y="2834639"/>
            <a:ext cx="5166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Lets users </a:t>
            </a: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save and revisit strategies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to compare approaches over time.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13954" y="3383279"/>
            <a:ext cx="5166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Replaces </a:t>
            </a: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guesswork with evidence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— no more vibes-based wagering.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283234" y="1234439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Three Value Pillars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4"/>
          <p:cNvCxnSpPr/>
          <p:nvPr/>
        </p:nvCxnSpPr>
        <p:spPr>
          <a:xfrm>
            <a:off x="6328954" y="1645919"/>
            <a:ext cx="5349240" cy="0"/>
          </a:xfrm>
          <a:prstGeom prst="straightConnector1">
            <a:avLst/>
          </a:prstGeom>
          <a:noFill/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4"/>
          <p:cNvSpPr/>
          <p:nvPr/>
        </p:nvSpPr>
        <p:spPr>
          <a:xfrm>
            <a:off x="6420394" y="1783079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420394" y="1783079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7106194" y="1737359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Test before you bet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Run any strategy against the historical record before any money is at risk.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420394" y="2560319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420394" y="2560319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106194" y="2514599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See the truth in the 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ROI, hit rate, drawdown, and win streaks — the real numbers, not narratives.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420394" y="3337559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420394" y="3337559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106194" y="3291839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Build a library of edges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Save winning strategies and iterate on losing ones over time.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76794" y="4023359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How a Strategy Becomes Evidence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4"/>
          <p:cNvCxnSpPr/>
          <p:nvPr/>
        </p:nvCxnSpPr>
        <p:spPr>
          <a:xfrm>
            <a:off x="522514" y="4434839"/>
            <a:ext cx="5349240" cy="0"/>
          </a:xfrm>
          <a:prstGeom prst="straightConnector1">
            <a:avLst/>
          </a:prstGeom>
          <a:noFill/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4"/>
          <p:cNvSpPr/>
          <p:nvPr/>
        </p:nvSpPr>
        <p:spPr>
          <a:xfrm>
            <a:off x="1019719" y="4663439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019719" y="4663439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59674" y="5303519"/>
            <a:ext cx="126873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Define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59674" y="5577839"/>
            <a:ext cx="126873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Pick the rules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1568359" y="4937759"/>
            <a:ext cx="720090" cy="0"/>
          </a:xfrm>
          <a:prstGeom prst="straightConnector1">
            <a:avLst/>
          </a:prstGeom>
          <a:noFill/>
          <a:ln cap="flat" cmpd="sng" w="12700">
            <a:solidFill>
              <a:srgbClr val="8497B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6" name="Google Shape;116;p4"/>
          <p:cNvSpPr/>
          <p:nvPr/>
        </p:nvSpPr>
        <p:spPr>
          <a:xfrm>
            <a:off x="2288449" y="4663439"/>
            <a:ext cx="548640" cy="54864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288449" y="4663439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928404" y="5303519"/>
            <a:ext cx="126873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Backtest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928404" y="5577839"/>
            <a:ext cx="126873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Run vs. history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2837089" y="4937759"/>
            <a:ext cx="720090" cy="0"/>
          </a:xfrm>
          <a:prstGeom prst="straightConnector1">
            <a:avLst/>
          </a:prstGeom>
          <a:noFill/>
          <a:ln cap="flat" cmpd="sng" w="12700">
            <a:solidFill>
              <a:srgbClr val="8497B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1" name="Google Shape;121;p4"/>
          <p:cNvSpPr/>
          <p:nvPr/>
        </p:nvSpPr>
        <p:spPr>
          <a:xfrm>
            <a:off x="3557179" y="4663439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557179" y="4663439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197134" y="5303519"/>
            <a:ext cx="126873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197134" y="5577839"/>
            <a:ext cx="126873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Read the metrics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4"/>
          <p:cNvCxnSpPr/>
          <p:nvPr/>
        </p:nvCxnSpPr>
        <p:spPr>
          <a:xfrm>
            <a:off x="4105819" y="4937759"/>
            <a:ext cx="720090" cy="0"/>
          </a:xfrm>
          <a:prstGeom prst="straightConnector1">
            <a:avLst/>
          </a:prstGeom>
          <a:noFill/>
          <a:ln cap="flat" cmpd="sng" w="12700">
            <a:solidFill>
              <a:srgbClr val="8497B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6" name="Google Shape;126;p4"/>
          <p:cNvSpPr/>
          <p:nvPr/>
        </p:nvSpPr>
        <p:spPr>
          <a:xfrm>
            <a:off x="4825909" y="4663439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825909" y="4663439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465864" y="5303519"/>
            <a:ext cx="126873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Save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465864" y="5577839"/>
            <a:ext cx="126873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Add to library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283234" y="4023359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Positioning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328954" y="4434839"/>
            <a:ext cx="5349240" cy="0"/>
          </a:xfrm>
          <a:prstGeom prst="straightConnector1">
            <a:avLst/>
          </a:prstGeom>
          <a:noFill/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4"/>
          <p:cNvSpPr/>
          <p:nvPr/>
        </p:nvSpPr>
        <p:spPr>
          <a:xfrm>
            <a:off x="6420394" y="4571999"/>
            <a:ext cx="2537460" cy="17830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420394" y="4663439"/>
            <a:ext cx="25374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rPr>
              <a:t>Without BetWise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557554" y="5029199"/>
            <a:ext cx="22631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× Hunches and narratives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× No record of past bets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× Strategies live in your head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× The book has all the 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9049294" y="4571999"/>
            <a:ext cx="2537460" cy="1783080"/>
          </a:xfrm>
          <a:prstGeom prst="rect">
            <a:avLst/>
          </a:prstGeom>
          <a:solidFill>
            <a:srgbClr val="DEEBF7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9049294" y="4663439"/>
            <a:ext cx="25374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With BetWise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186454" y="5029199"/>
            <a:ext cx="22631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✓ Test against real history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✓ Quantified ROI &amp; hit rate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✓ Persistent strategy library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✓ Evidence-based decisions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etwise_icon.png"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60605"/>
            <a:ext cx="868680" cy="310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5"/>
          <p:cNvCxnSpPr/>
          <p:nvPr/>
        </p:nvCxnSpPr>
        <p:spPr>
          <a:xfrm>
            <a:off x="457200" y="667512"/>
            <a:ext cx="11277295" cy="0"/>
          </a:xfrm>
          <a:prstGeom prst="straightConnector1">
            <a:avLst/>
          </a:prstGeom>
          <a:noFill/>
          <a:ln cap="flat" cmpd="sng" w="1587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5"/>
          <p:cNvSpPr/>
          <p:nvPr/>
        </p:nvSpPr>
        <p:spPr>
          <a:xfrm>
            <a:off x="1447800" y="164592"/>
            <a:ext cx="94484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mbria"/>
              <a:buNone/>
            </a:pPr>
            <a:r>
              <a:rPr lang="en-US" sz="32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How It Works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146" name="Google Shape;1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0" y="816964"/>
            <a:ext cx="10923985" cy="5777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etwise_icon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60605"/>
            <a:ext cx="868680" cy="310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6"/>
          <p:cNvCxnSpPr/>
          <p:nvPr/>
        </p:nvCxnSpPr>
        <p:spPr>
          <a:xfrm>
            <a:off x="457200" y="667512"/>
            <a:ext cx="11277295" cy="0"/>
          </a:xfrm>
          <a:prstGeom prst="straightConnector1">
            <a:avLst/>
          </a:prstGeom>
          <a:noFill/>
          <a:ln cap="flat" cmpd="sng" w="1587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6"/>
          <p:cNvSpPr/>
          <p:nvPr/>
        </p:nvSpPr>
        <p:spPr>
          <a:xfrm>
            <a:off x="1447800" y="164592"/>
            <a:ext cx="94484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mbria"/>
              <a:buNone/>
            </a:pPr>
            <a:r>
              <a:rPr lang="en-US" sz="32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How It Works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155" name="Google Shape;1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812006"/>
            <a:ext cx="11087100" cy="57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etwise_icon.png"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60605"/>
            <a:ext cx="868680" cy="310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7"/>
          <p:cNvCxnSpPr/>
          <p:nvPr/>
        </p:nvCxnSpPr>
        <p:spPr>
          <a:xfrm>
            <a:off x="457200" y="667512"/>
            <a:ext cx="11277295" cy="0"/>
          </a:xfrm>
          <a:prstGeom prst="straightConnector1">
            <a:avLst/>
          </a:prstGeom>
          <a:noFill/>
          <a:ln cap="flat" cmpd="sng" w="1587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7"/>
          <p:cNvSpPr/>
          <p:nvPr/>
        </p:nvSpPr>
        <p:spPr>
          <a:xfrm>
            <a:off x="1447800" y="164592"/>
            <a:ext cx="94484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mbria"/>
              <a:buNone/>
            </a:pPr>
            <a:r>
              <a:rPr lang="en-US" sz="32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Video Demonstration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7" title="Screen Recording 2026-04-30 at 10.32.02 AM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100" y="763512"/>
            <a:ext cx="10773801" cy="588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etwise_icon.png"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60604"/>
            <a:ext cx="868680" cy="310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8"/>
          <p:cNvCxnSpPr/>
          <p:nvPr/>
        </p:nvCxnSpPr>
        <p:spPr>
          <a:xfrm>
            <a:off x="457200" y="667512"/>
            <a:ext cx="11277295" cy="0"/>
          </a:xfrm>
          <a:prstGeom prst="straightConnector1">
            <a:avLst/>
          </a:prstGeom>
          <a:noFill/>
          <a:ln cap="flat" cmpd="sng" w="1587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8"/>
          <p:cNvSpPr/>
          <p:nvPr/>
        </p:nvSpPr>
        <p:spPr>
          <a:xfrm>
            <a:off x="1371599" y="164592"/>
            <a:ext cx="94484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mbria"/>
              <a:buNone/>
            </a:pPr>
            <a:r>
              <a:rPr lang="en-US" sz="32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Room for Growth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87375" y="1124712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Player Props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8"/>
          <p:cNvCxnSpPr/>
          <p:nvPr/>
        </p:nvCxnSpPr>
        <p:spPr>
          <a:xfrm>
            <a:off x="533095" y="1536192"/>
            <a:ext cx="5349240" cy="0"/>
          </a:xfrm>
          <a:prstGeom prst="straightConnector1">
            <a:avLst/>
          </a:prstGeom>
          <a:noFill/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8"/>
          <p:cNvSpPr/>
          <p:nvPr/>
        </p:nvSpPr>
        <p:spPr>
          <a:xfrm>
            <a:off x="624535" y="1840992"/>
            <a:ext cx="5166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Add player-level markets like </a:t>
            </a: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points, rebounds, assists, etc.</a:t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624535" y="2386584"/>
            <a:ext cx="5166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Backtest against per-game player box scores, not just team results.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24535" y="2980944"/>
            <a:ext cx="5166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 More lines means more chances for books to slip up --&gt; more opportunity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293815" y="1124712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More Flexible Inputs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8"/>
          <p:cNvCxnSpPr/>
          <p:nvPr/>
        </p:nvCxnSpPr>
        <p:spPr>
          <a:xfrm>
            <a:off x="6339535" y="1536192"/>
            <a:ext cx="5349240" cy="0"/>
          </a:xfrm>
          <a:prstGeom prst="straightConnector1">
            <a:avLst/>
          </a:prstGeom>
          <a:noFill/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8"/>
          <p:cNvSpPr/>
          <p:nvPr/>
        </p:nvSpPr>
        <p:spPr>
          <a:xfrm>
            <a:off x="6430975" y="1840992"/>
            <a:ext cx="5166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Combine filters: </a:t>
            </a: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rest days, weather, travel, line movement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430975" y="2386584"/>
            <a:ext cx="5166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Bet-sizing options beyond flat units --&gt; higher EV bets weighted more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430975" y="2980944"/>
            <a:ext cx="5166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Natural language input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87375" y="3913632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More Leagues &amp; Markets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8"/>
          <p:cNvCxnSpPr/>
          <p:nvPr/>
        </p:nvCxnSpPr>
        <p:spPr>
          <a:xfrm>
            <a:off x="533095" y="4325112"/>
            <a:ext cx="5349240" cy="0"/>
          </a:xfrm>
          <a:prstGeom prst="straightConnector1">
            <a:avLst/>
          </a:prstGeom>
          <a:noFill/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8"/>
          <p:cNvSpPr/>
          <p:nvPr/>
        </p:nvSpPr>
        <p:spPr>
          <a:xfrm>
            <a:off x="811770" y="4482302"/>
            <a:ext cx="1508760" cy="45720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811770" y="448230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NBA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103610" y="4500589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NFL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103610" y="4482302"/>
            <a:ext cx="1508760" cy="457200"/>
          </a:xfrm>
          <a:prstGeom prst="rect">
            <a:avLst/>
          </a:prstGeom>
          <a:solidFill>
            <a:srgbClr val="DEEBF7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103610" y="448230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MLB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811770" y="5076662"/>
            <a:ext cx="1508760" cy="457200"/>
          </a:xfrm>
          <a:prstGeom prst="rect">
            <a:avLst/>
          </a:prstGeom>
          <a:solidFill>
            <a:srgbClr val="DEEBF7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811770" y="507666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NHL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457690" y="5076662"/>
            <a:ext cx="1508760" cy="457200"/>
          </a:xfrm>
          <a:prstGeom prst="rect">
            <a:avLst/>
          </a:prstGeom>
          <a:solidFill>
            <a:srgbClr val="DEEBF7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457690" y="507666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NCAAF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103610" y="5076662"/>
            <a:ext cx="1508760" cy="457200"/>
          </a:xfrm>
          <a:prstGeom prst="rect">
            <a:avLst/>
          </a:prstGeom>
          <a:solidFill>
            <a:srgbClr val="DEEBF7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103610" y="507666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NCAAB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11770" y="5671022"/>
            <a:ext cx="1508760" cy="457200"/>
          </a:xfrm>
          <a:prstGeom prst="rect">
            <a:avLst/>
          </a:prstGeom>
          <a:solidFill>
            <a:srgbClr val="DEEBF7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811770" y="567102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EPL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457690" y="5671022"/>
            <a:ext cx="1508760" cy="457200"/>
          </a:xfrm>
          <a:prstGeom prst="rect">
            <a:avLst/>
          </a:prstGeom>
          <a:solidFill>
            <a:srgbClr val="DEEBF7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457690" y="567102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UFC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103610" y="5671022"/>
            <a:ext cx="1508760" cy="457200"/>
          </a:xfrm>
          <a:prstGeom prst="rect">
            <a:avLst/>
          </a:prstGeom>
          <a:solidFill>
            <a:srgbClr val="DEEBF7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103610" y="567102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PGA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293815" y="3913632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The Bottom Line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8"/>
          <p:cNvCxnSpPr/>
          <p:nvPr/>
        </p:nvCxnSpPr>
        <p:spPr>
          <a:xfrm>
            <a:off x="6339535" y="4325112"/>
            <a:ext cx="5349240" cy="0"/>
          </a:xfrm>
          <a:prstGeom prst="straightConnector1">
            <a:avLst/>
          </a:prstGeom>
          <a:noFill/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8"/>
          <p:cNvSpPr/>
          <p:nvPr/>
        </p:nvSpPr>
        <p:spPr>
          <a:xfrm>
            <a:off x="6476695" y="4553712"/>
            <a:ext cx="5074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mbria"/>
              <a:buNone/>
            </a:pPr>
            <a:r>
              <a:rPr i="1" lang="en-US" sz="17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rPr>
              <a:t>The house has the data.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476695" y="4965192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BetWise puts it back in your hands.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8"/>
          <p:cNvCxnSpPr/>
          <p:nvPr/>
        </p:nvCxnSpPr>
        <p:spPr>
          <a:xfrm>
            <a:off x="7665415" y="5513832"/>
            <a:ext cx="2697480" cy="0"/>
          </a:xfrm>
          <a:prstGeom prst="straightConnector1">
            <a:avLst/>
          </a:prstGeom>
          <a:noFill/>
          <a:ln cap="flat" cmpd="sng" w="3175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8"/>
          <p:cNvSpPr/>
          <p:nvPr/>
        </p:nvSpPr>
        <p:spPr>
          <a:xfrm>
            <a:off x="6476695" y="5650992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Less vibes, more wins, one strategy at a time.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2457690" y="4500589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NFL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457690" y="4482302"/>
            <a:ext cx="1508760" cy="457200"/>
          </a:xfrm>
          <a:prstGeom prst="rect">
            <a:avLst/>
          </a:prstGeom>
          <a:solidFill>
            <a:srgbClr val="DEEBF7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2457690" y="448230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NFL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etwise_icon.png" id="216" name="Google Shape;2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60605"/>
            <a:ext cx="868680" cy="310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9"/>
          <p:cNvCxnSpPr/>
          <p:nvPr/>
        </p:nvCxnSpPr>
        <p:spPr>
          <a:xfrm>
            <a:off x="457200" y="667512"/>
            <a:ext cx="11277295" cy="0"/>
          </a:xfrm>
          <a:prstGeom prst="straightConnector1">
            <a:avLst/>
          </a:prstGeom>
          <a:noFill/>
          <a:ln cap="flat" cmpd="sng" w="1587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9"/>
          <p:cNvSpPr/>
          <p:nvPr/>
        </p:nvSpPr>
        <p:spPr>
          <a:xfrm>
            <a:off x="1447800" y="164592"/>
            <a:ext cx="94484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mbria"/>
              <a:buNone/>
            </a:pPr>
            <a:r>
              <a:rPr lang="en-US" sz="32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Citations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457200" y="1045029"/>
            <a:ext cx="1127729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Applebaum, Josh. “Sports Betting Explained: Juice, House Edge &amp; Expectations.” Casino.Org Blog, 28 Oct. 2025, www.casino.org/blog/sports-betting-house-edge/.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Garrison, Greg. “2025 Sports Betting and Debt Survey.” U.S. News &amp; World Report, 23 July 2025, www.usnews.com/banking/articles/2025-sports-betting-and-debt-survey.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“State of the States 2025 - American Gaming Association.” American Gaming Association, 13 May 2025, www.americangaming.org/resources/state-of-the-states-2025/.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Surendran, Shwetha. “Sports Betting Hits Record $16.96 Billion in Revenue in 2025.” ESPN, ESPN Internet Ventures, 26 Feb. 2026, www.espn.com/espn/betting/story/_/id/48045855/sports-betting-hits-record-1696-billion-revenue-2025.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etwise_icon.png" id="225" name="Google Shape;2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086" y="3273552"/>
            <a:ext cx="868680" cy="310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10"/>
          <p:cNvCxnSpPr/>
          <p:nvPr/>
        </p:nvCxnSpPr>
        <p:spPr>
          <a:xfrm>
            <a:off x="468086" y="3680459"/>
            <a:ext cx="11277295" cy="0"/>
          </a:xfrm>
          <a:prstGeom prst="straightConnector1">
            <a:avLst/>
          </a:prstGeom>
          <a:noFill/>
          <a:ln cap="flat" cmpd="sng" w="1587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10"/>
          <p:cNvSpPr/>
          <p:nvPr/>
        </p:nvSpPr>
        <p:spPr>
          <a:xfrm>
            <a:off x="1458686" y="3177539"/>
            <a:ext cx="94484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mbria"/>
              <a:buNone/>
            </a:pPr>
            <a:r>
              <a:rPr lang="en-US" sz="3200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Thank You!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2026-04-30T02:29:11Z</dcterms:created>
  <dc:creator>Cate Anderson, William Armsworthy, Ryan Putka</dc:creator>
</cp:coreProperties>
</file>